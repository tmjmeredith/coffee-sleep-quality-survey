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回應率</c:v>
                </c:pt>
              </c:strCache>
            </c:strRef>
          </c:tx>
          <c:spPr>
            <a:solidFill>
              <a:srgbClr val="C89B6E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333"/>
                    </a:solidFill>
                    <a:latin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拿鐵</c:v>
                </c:pt>
                <c:pt idx="1">
                  <c:v>美式</c:v>
                </c:pt>
                <c:pt idx="2">
                  <c:v>卡布奇諾</c:v>
                </c:pt>
                <c:pt idx="3">
                  <c:v>摩卡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76.3</c:v>
                </c:pt>
                <c:pt idx="1">
                  <c:v>38.9</c:v>
                </c:pt>
                <c:pt idx="2">
                  <c:v>17.899999999999999</c:v>
                </c:pt>
                <c:pt idx="3">
                  <c:v>11.1</c:v>
                </c:pt>
                <c:pt idx="4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D2-4EE3-BF0A-F782D2130A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33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有飲用</c:v>
                </c:pt>
              </c:strCache>
            </c:strRef>
          </c:tx>
          <c:spPr>
            <a:solidFill>
              <a:srgbClr val="C89B6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睡眠滿意度</c:v>
                </c:pt>
                <c:pt idx="1">
                  <c:v>睡眠時數 ×8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53.9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56-4C25-A853-43FF6CEDB5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無飲用</c:v>
                </c:pt>
              </c:strCache>
            </c:strRef>
          </c:tx>
          <c:spPr>
            <a:solidFill>
              <a:srgbClr val="5B6BA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睡眠滿意度</c:v>
                </c:pt>
                <c:pt idx="1">
                  <c:v>睡眠時數 ×8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69.099999999999994</c:v>
                </c:pt>
                <c:pt idx="1">
                  <c:v>57.8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56-4C25-A853-43FF6CEDB5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A233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A2333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入睡難度</c:v>
                </c:pt>
              </c:strCache>
            </c:strRef>
          </c:tx>
          <c:spPr>
            <a:solidFill>
              <a:srgbClr val="C89B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73-4FF2-B820-3F9B36DEAC8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E73-4FF2-B820-3F9B36DEAC8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E73-4FF2-B820-3F9B36DEAC8A}"/>
              </c:ext>
            </c:extLst>
          </c:dPt>
          <c:dPt>
            <c:idx val="3"/>
            <c:invertIfNegative val="0"/>
            <c:bubble3D val="0"/>
            <c:spPr>
              <a:solidFill>
                <a:srgbClr val="9A6B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73-4FF2-B820-3F9B36DEAC8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333"/>
                    </a:solidFill>
                    <a:latin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12時前</c:v>
                </c:pt>
                <c:pt idx="1">
                  <c:v>12–15時</c:v>
                </c:pt>
                <c:pt idx="2">
                  <c:v>15–18時</c:v>
                </c:pt>
                <c:pt idx="3">
                  <c:v>18–21時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2.4700000000000002</c:v>
                </c:pt>
                <c:pt idx="1">
                  <c:v>2.42</c:v>
                </c:pt>
                <c:pt idx="2">
                  <c:v>2.78</c:v>
                </c:pt>
                <c:pt idx="3">
                  <c:v>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73-4FF2-B820-3F9B36DEAC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A233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C89B6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333"/>
                    </a:solidFill>
                    <a:latin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年齡</c:v>
                </c:pt>
                <c:pt idx="1">
                  <c:v>入睡難度</c:v>
                </c:pt>
                <c:pt idx="2">
                  <c:v>月收入</c:v>
                </c:pt>
                <c:pt idx="3">
                  <c:v>輪班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0.48099999999999998</c:v>
                </c:pt>
                <c:pt idx="1">
                  <c:v>0.45100000000000001</c:v>
                </c:pt>
                <c:pt idx="2">
                  <c:v>5.3999999999999999E-2</c:v>
                </c:pt>
                <c:pt idx="3">
                  <c:v>1.2999999999999999E-2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58-447D-83C2-0077202997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A233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687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011680"/>
            <a:ext cx="7772400" cy="7772400"/>
          </a:xfrm>
          <a:prstGeom prst="ellipse">
            <a:avLst/>
          </a:prstGeom>
          <a:solidFill>
            <a:srgbClr val="2C26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778240" y="-914400"/>
            <a:ext cx="5120640" cy="5120640"/>
          </a:xfrm>
          <a:prstGeom prst="ellipse">
            <a:avLst/>
          </a:prstGeom>
          <a:solidFill>
            <a:srgbClr val="332B4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78992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1115568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8745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淡江大學 · 114 學年度第 2 學期 · 進階 SAS 程式設計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22960" y="2331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咖啡飲用習慣</a:t>
            </a:r>
            <a:r>
              <a:rPr lang="en-US" sz="5000" b="1" dirty="0">
                <a:solidFill>
                  <a:srgbClr val="C89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en-US" sz="50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睡眠品質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822960" y="3246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關聯性研究</a:t>
            </a:r>
            <a:endParaRPr lang="en-US" sz="5000" dirty="0"/>
          </a:p>
        </p:txBody>
      </p:sp>
      <p:sp>
        <p:nvSpPr>
          <p:cNvPr id="9" name="Text 5"/>
          <p:cNvSpPr/>
          <p:nvPr/>
        </p:nvSpPr>
        <p:spPr>
          <a:xfrm>
            <a:off x="82296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C89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320 筆問卷資料，剖析「提神」與「睡眠代價」之間的權衡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822960" y="5440680"/>
            <a:ext cx="5669280" cy="0"/>
          </a:xfrm>
          <a:prstGeom prst="line">
            <a:avLst/>
          </a:prstGeom>
          <a:noFill/>
          <a:ln w="12700">
            <a:solidFill>
              <a:srgbClr val="433B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822960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報告人　</a:t>
            </a:r>
            <a:r>
              <a:rPr lang="en-US" sz="14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蔡承諺</a:t>
            </a:r>
            <a:r>
              <a:rPr lang="en-US" sz="140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(學號 409651592)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中華民國 115 年 6 月 17 日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緒論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研究背景與動機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咖啡已從少數人的嗜好，轉變為多數人日常生活的一部分。</a:t>
            </a:r>
            <a:endParaRPr lang="en-US" sz="1550" dirty="0"/>
          </a:p>
          <a:p>
            <a:pPr marL="0" indent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然而其所含的咖啡因屬中樞神經興奮劑，會延長入睡時間、減少深層睡眠、提高夜間覺醒頻率——當飲用量過高或時段過晚，往往以睡眠品質為代價。</a:t>
            </a:r>
            <a:endParaRPr lang="en-US" sz="15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許多人因此陷入「以咖啡換清醒、以睡眠為代價」的循環。釐清兩者關聯，正是本研究的核心關切。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012680" y="2514600"/>
            <a:ext cx="1417320" cy="1508760"/>
          </a:xfrm>
          <a:prstGeom prst="line">
            <a:avLst/>
          </a:prstGeom>
          <a:noFill/>
          <a:ln w="28575">
            <a:solidFill>
              <a:srgbClr val="C89B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332720" y="5257800"/>
            <a:ext cx="0" cy="0"/>
          </a:xfrm>
          <a:prstGeom prst="line">
            <a:avLst/>
          </a:prstGeom>
          <a:noFill/>
          <a:ln w="28575">
            <a:solidFill>
              <a:srgbClr val="C89B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092440" y="4023360"/>
            <a:ext cx="1371600" cy="0"/>
          </a:xfrm>
          <a:prstGeom prst="line">
            <a:avLst/>
          </a:prstGeom>
          <a:noFill/>
          <a:ln w="28575">
            <a:solidFill>
              <a:srgbClr val="C89B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8165592" y="941832"/>
            <a:ext cx="1682496" cy="1682496"/>
          </a:xfrm>
          <a:prstGeom prst="ellipse">
            <a:avLst/>
          </a:prstGeom>
          <a:solidFill>
            <a:srgbClr val="F7F5F9"/>
          </a:solidFill>
          <a:ln w="15875">
            <a:solidFill>
              <a:srgbClr val="E7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165592" y="132588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咖啡提神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白天靠咖啡撐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902952" y="3685032"/>
            <a:ext cx="1682496" cy="1682496"/>
          </a:xfrm>
          <a:prstGeom prst="ellipse">
            <a:avLst/>
          </a:prstGeom>
          <a:solidFill>
            <a:srgbClr val="FBF2E9"/>
          </a:solidFill>
          <a:ln w="25400">
            <a:solidFill>
              <a:srgbClr val="C89B6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902952" y="406908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夜晚難眠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入睡延後・睡更短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28232" y="3685032"/>
            <a:ext cx="1682496" cy="1682496"/>
          </a:xfrm>
          <a:prstGeom prst="ellipse">
            <a:avLst/>
          </a:prstGeom>
          <a:solidFill>
            <a:srgbClr val="F7F5F9"/>
          </a:solidFill>
          <a:ln w="15875">
            <a:solidFill>
              <a:srgbClr val="E7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28232" y="406908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隔日更累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於是再喝一杯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研究問題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983480" cy="1755648"/>
          </a:xfrm>
          <a:prstGeom prst="roundRect">
            <a:avLst>
              <a:gd name="adj" fmla="val 5208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207008" y="2258568"/>
            <a:ext cx="841248" cy="841248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47802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2585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描述樣貌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8600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刻畫咖啡飲用與睡眠的整體分布與行為特徵。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4983480" cy="1755648"/>
          </a:xfrm>
          <a:prstGeom prst="roundRect">
            <a:avLst>
              <a:gd name="adj" fmla="val 5208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6693408" y="2258568"/>
            <a:ext cx="841248" cy="841248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7802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2585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檢定差異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77240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飲用與否、性別、職業、時段間的睡眠差異。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014216"/>
            <a:ext cx="4983480" cy="1755648"/>
          </a:xfrm>
          <a:prstGeom prst="roundRect">
            <a:avLst>
              <a:gd name="adj" fmla="val 5208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1"/>
          <p:cNvSpPr/>
          <p:nvPr/>
        </p:nvSpPr>
        <p:spPr>
          <a:xfrm>
            <a:off x="1207008" y="4398264"/>
            <a:ext cx="841248" cy="841248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461772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86000" y="43982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量化影響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86000" y="48371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以迴歸估計杯數、入睡難度對滿意度的效果。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014216"/>
            <a:ext cx="4983480" cy="1755648"/>
          </a:xfrm>
          <a:prstGeom prst="roundRect">
            <a:avLst>
              <a:gd name="adj" fmla="val 5208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5"/>
          <p:cNvSpPr/>
          <p:nvPr/>
        </p:nvSpPr>
        <p:spPr>
          <a:xfrm>
            <a:off x="6693408" y="4398264"/>
            <a:ext cx="841248" cy="841248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461772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3982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預測分群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772400" y="48371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建立決策樹與 K-means，辨識高風險族群。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研究方法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資料來源與分析工具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BF2E9"/>
          </a:solidFill>
          <a:ln w="19050">
            <a:solidFill>
              <a:srgbClr val="C89B6E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320</a:t>
            </a:r>
            <a:r>
              <a:rPr lang="en-US" sz="1600" b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筆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15568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有效樣本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5568" y="30358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 43 ＋ 模擬 277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53128" y="182880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727448" y="2011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190</a:t>
            </a:r>
            <a:r>
              <a:rPr lang="en-US" sz="1600" b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人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45736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有飲用咖啡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45736" y="30358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 59.4%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357616" y="2011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130</a:t>
            </a:r>
            <a:r>
              <a:rPr lang="en-US" sz="1600" b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人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75904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無飲用咖啡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5904" y="30358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 40.6%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分析工具（SAS）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187952"/>
            <a:ext cx="1188720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22960" y="41879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描述統計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94560" y="4187952"/>
            <a:ext cx="1005840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194560" y="41879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檢定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4187952"/>
            <a:ext cx="1188720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383280" y="41879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卡方檢定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4187952"/>
            <a:ext cx="960120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754880" y="418795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ANOVA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4187952"/>
            <a:ext cx="1188720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897880" y="41879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簡單迴歸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4187952"/>
            <a:ext cx="973836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269480" y="4187952"/>
            <a:ext cx="9738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26196" y="4187952"/>
            <a:ext cx="1193292" cy="512064"/>
          </a:xfrm>
          <a:prstGeom prst="roundRect">
            <a:avLst>
              <a:gd name="adj" fmla="val 50000"/>
            </a:avLst>
          </a:prstGeom>
          <a:solidFill>
            <a:srgbClr val="1E1A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8426196" y="4187952"/>
            <a:ext cx="11932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K-means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5166360"/>
            <a:ext cx="10545775" cy="960120"/>
          </a:xfrm>
          <a:prstGeom prst="roundRect">
            <a:avLst>
              <a:gd name="adj" fmla="val 7619"/>
            </a:avLst>
          </a:prstGeom>
          <a:solidFill>
            <a:srgbClr val="FBF7F2"/>
          </a:solidFill>
          <a:ln w="12700">
            <a:solidFill>
              <a:srgbClr val="EAD9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5413248"/>
            <a:ext cx="384048" cy="38404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691640" y="5248656"/>
            <a:ext cx="9357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關於資料：</a:t>
            </a:r>
            <a:r>
              <a:rPr lang="en-US" sz="12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原始有效樣本僅 43 份，為達分析所需筆數，以「同分配隨機生成」依原始邊際分配擴增至 320 筆。模擬資料保留分布特性，但顯著性結果之外推仍應審慎，不宜逕推真實母體。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　描述統計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樣本輪廓與飲用行為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1.84</a:t>
            </a:r>
            <a:r>
              <a:rPr lang="en-US" sz="14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杯／日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飲用者平均每日杯數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4206240" cy="0"/>
          </a:xfrm>
          <a:prstGeom prst="line">
            <a:avLst/>
          </a:prstGeom>
          <a:noFill/>
          <a:ln w="1270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76%</a:t>
            </a:r>
            <a:r>
              <a:rPr lang="en-US" sz="14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602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最愛「拿鐵」，其次美式 39%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059936"/>
            <a:ext cx="4206240" cy="0"/>
          </a:xfrm>
          <a:prstGeom prst="line">
            <a:avLst/>
          </a:prstGeom>
          <a:noFill/>
          <a:ln w="1270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22960" y="4334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 成</a:t>
            </a:r>
            <a:r>
              <a:rPr lang="en-US" sz="14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4809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最後一杯落在 18–21 時（偏晚）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咖啡種類偏好（飲用者複選，回應率 %）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126480" y="214884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推論統計 · 核心發現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飲用咖啡與較差睡眠顯著相關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睡眠滿意度（0–100 分）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57.7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有飲用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2286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B6B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69.1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118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無飲用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4892040" cy="868680"/>
          </a:xfrm>
          <a:prstGeom prst="roundRect">
            <a:avLst>
              <a:gd name="adj" fmla="val 10526"/>
            </a:avLst>
          </a:prstGeom>
          <a:solidFill>
            <a:srgbClr val="FBF2E9"/>
          </a:solidFill>
          <a:ln w="15875">
            <a:solidFill>
              <a:srgbClr val="C89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−11.4 分</a:t>
            </a:r>
            <a:r>
              <a:rPr lang="en-US" sz="13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飲用者睡眠滿意度顯著較低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睡眠時數　</a:t>
            </a:r>
            <a:r>
              <a:rPr lang="en-US" sz="13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6.74 h vs 7.23 h（t = −4.16, p &lt; .001）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1937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卡方檢定　</a:t>
            </a:r>
            <a:r>
              <a:rPr lang="en-US" sz="13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飲用者落入「低滿意」比例顯著較高（χ² = 17.4, p &lt; .001）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睡眠滿意度與睡眠時數比較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5870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註：睡眠時數已 ×8 縮放以利同圖比較。</a:t>
            </a:r>
            <a:endParaRPr lang="en-US" sz="9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263640" y="2240280"/>
          <a:ext cx="5303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推論統計 · 核心發現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越晚、越多、越輪班，睡得越差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入睡難度 隨「最後飲用時段」上升（1–5）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6875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ANOVA：F = 6.70, p &lt; .001；18–21 時組顯著最高。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0" y="1874520"/>
            <a:ext cx="4617720" cy="1783080"/>
          </a:xfrm>
          <a:prstGeom prst="roundRect">
            <a:avLst>
              <a:gd name="adj" fmla="val 5128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職業別 · ANOVA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0" y="23957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52.0 分</a:t>
            </a: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輪班制睡眠滿意度最低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顯著低於學生、上班族與自由接案者（Tukey HSD）。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840480"/>
            <a:ext cx="4617720" cy="2011680"/>
          </a:xfrm>
          <a:prstGeom prst="roundRect">
            <a:avLst>
              <a:gd name="adj" fmla="val 4545"/>
            </a:avLst>
          </a:prstGeom>
          <a:solidFill>
            <a:srgbClr val="FBF2E9"/>
          </a:solidFill>
          <a:ln w="15875">
            <a:solidFill>
              <a:srgbClr val="C89B6E"/>
            </a:solidFill>
            <a:prstDash val="solid"/>
          </a:ln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簡單線性迴歸 · 對睡眠滿意度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0" y="4370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−4.0</a:t>
            </a: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分</a:t>
            </a:r>
            <a:r>
              <a:rPr lang="en-US" sz="1350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每多喝 1 杯咖啡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32320" y="49560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−6.5</a:t>
            </a: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分</a:t>
            </a:r>
            <a:r>
              <a:rPr lang="en-US" sz="1350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入睡難度每升 1 級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5486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入睡難度的解釋力最強（R² = 0.162, p &lt; .001）。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77240" y="228600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　預測與分群模型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決策樹與 K-means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決策樹 · 變數重要性（預測高睡眠滿意度）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224028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75488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109728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 0.709</a:t>
            </a:r>
            <a:r>
              <a:rPr lang="en-US" sz="130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驗證組正確率 0.684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53218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關鍵在「入睡難度」與「年齡」；咖啡多透過入睡難度等中介路徑影響睡眠。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5508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K-means · 三型睡眠—咖啡族群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2286000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6583680" y="2414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睡眠良好 · 輕飲群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0" y="24140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110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0" y="2834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 7.7 h</a:t>
            </a:r>
            <a:r>
              <a:rPr lang="en-US" sz="125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r>
              <a:rPr lang="en-US" sz="12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滿意度 77.7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3511296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BF2E9"/>
          </a:solidFill>
          <a:ln w="19050">
            <a:solidFill>
              <a:srgbClr val="C89B6E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658368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重度咖啡 · 受擾群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0" y="36393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79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0" y="40599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 6.0 h · 2.38 杯</a:t>
            </a:r>
            <a:r>
              <a:rPr lang="en-US" sz="125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r>
              <a:rPr lang="en-US" sz="1250" b="1" dirty="0">
                <a:solidFill>
                  <a:srgbClr val="9A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滿意度 43.1（最低）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55080" y="4736592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7F5F9"/>
          </a:solidFill>
          <a:ln w="12700">
            <a:solidFill>
              <a:srgbClr val="E7E3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658368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低飲用 · 普通群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0" y="48646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108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0" y="52852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 6.7 h</a:t>
            </a:r>
            <a:r>
              <a:rPr lang="en-US" sz="125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r>
              <a:rPr lang="en-US" sz="1250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滿意度 61.1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6858000" cy="6858000"/>
          </a:xfrm>
          <a:prstGeom prst="ellipse">
            <a:avLst/>
          </a:prstGeom>
          <a:solidFill>
            <a:srgbClr val="2C26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89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研究發現與實務建議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主要發現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飲用咖啡者的睡眠滿意度與時數均顯著較低，且更易落入低滿意組。</a:t>
            </a:r>
            <a:endParaRPr lang="en-US" sz="14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越晚飲用、杯數越多、輪班工作者，睡眠品質最為不利。</a:t>
            </a:r>
            <a:endParaRPr lang="en-US" sz="14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入睡難度與睡眠時數的解釋力最強；咖啡多透過入睡難度等中介路徑作用。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7C76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研究限制：資料含模擬擴增、屬橫斷面設計且多為自陳資料，因果推論宜審慎，未來宜擴大真實樣本並採客觀睡眠量測。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實務建議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395728"/>
            <a:ext cx="676656" cy="676656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569464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調整時段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315200" y="27432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咖啡集中於上午至午後早段，避免 18 時後飲用。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3474720"/>
            <a:ext cx="676656" cy="676656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64845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3456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控制總量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315200" y="38221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留意每日杯數，降低對入睡與睡眠時數的干擾。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92240" y="4553712"/>
            <a:ext cx="676656" cy="676656"/>
          </a:xfrm>
          <a:prstGeom prst="ellipse">
            <a:avLst/>
          </a:prstGeom>
          <a:solidFill>
            <a:srgbClr val="C89B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47274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4535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高風險族群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315200" y="49011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輪班族搭配規律作息與睡眠衛生，必要時尋求協助。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377440"/>
            <a:ext cx="8229600" cy="8229600"/>
          </a:xfrm>
          <a:prstGeom prst="ellipse">
            <a:avLst/>
          </a:prstGeom>
          <a:solidFill>
            <a:srgbClr val="2C2640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792224"/>
            <a:ext cx="676656" cy="6766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9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「喝咖啡的時間與量，決定了你的睡眠品質。」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822960" y="4754880"/>
            <a:ext cx="5029200" cy="0"/>
          </a:xfrm>
          <a:prstGeom prst="line">
            <a:avLst/>
          </a:prstGeom>
          <a:noFill/>
          <a:ln w="12700">
            <a:solidFill>
              <a:srgbClr val="433B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4"/>
          <p:cNvSpPr/>
          <p:nvPr/>
        </p:nvSpPr>
        <p:spPr>
          <a:xfrm>
            <a:off x="822960" y="4937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F2E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敬請指教 · Q &amp; A</a:t>
            </a:r>
            <a:endParaRPr lang="en-US" sz="1550" dirty="0"/>
          </a:p>
          <a:p>
            <a:pPr marL="0" indent="0">
              <a:buNone/>
            </a:pPr>
            <a:r>
              <a:rPr lang="en-US" sz="1300" dirty="0">
                <a:solidFill>
                  <a:srgbClr val="A7A2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蔡承諺　409651592　|　進階 SAS 程式設計 期末報告</a:t>
            </a:r>
            <a:endParaRPr lang="en-US" sz="15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471</Words>
  <Application>Microsoft Office PowerPoint</Application>
  <PresentationFormat>寬螢幕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咖啡飲用習慣與睡眠品質關聯性研究</dc:title>
  <dc:subject>PptxGenJS Presentation</dc:subject>
  <dc:creator>蔡承諺</dc:creator>
  <cp:lastModifiedBy>蔡承諺</cp:lastModifiedBy>
  <cp:revision>2</cp:revision>
  <dcterms:created xsi:type="dcterms:W3CDTF">2026-06-15T08:16:19Z</dcterms:created>
  <dcterms:modified xsi:type="dcterms:W3CDTF">2026-06-15T08:32:19Z</dcterms:modified>
</cp:coreProperties>
</file>